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9"/>
  </p:notesMasterIdLst>
  <p:handoutMasterIdLst>
    <p:handoutMasterId r:id="rId30"/>
  </p:handoutMasterIdLst>
  <p:sldIdLst>
    <p:sldId id="262" r:id="rId5"/>
    <p:sldId id="256" r:id="rId6"/>
    <p:sldId id="272" r:id="rId7"/>
    <p:sldId id="267" r:id="rId8"/>
    <p:sldId id="271" r:id="rId9"/>
    <p:sldId id="270" r:id="rId10"/>
    <p:sldId id="265" r:id="rId11"/>
    <p:sldId id="292" r:id="rId12"/>
    <p:sldId id="293" r:id="rId13"/>
    <p:sldId id="261" r:id="rId14"/>
    <p:sldId id="263" r:id="rId15"/>
    <p:sldId id="279" r:id="rId16"/>
    <p:sldId id="280" r:id="rId17"/>
    <p:sldId id="283" r:id="rId18"/>
    <p:sldId id="286" r:id="rId19"/>
    <p:sldId id="287" r:id="rId20"/>
    <p:sldId id="288" r:id="rId21"/>
    <p:sldId id="289" r:id="rId22"/>
    <p:sldId id="295" r:id="rId23"/>
    <p:sldId id="296" r:id="rId24"/>
    <p:sldId id="297" r:id="rId25"/>
    <p:sldId id="290" r:id="rId26"/>
    <p:sldId id="260" r:id="rId27"/>
    <p:sldId id="294" r:id="rId28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260"/>
    <a:srgbClr val="13293A"/>
    <a:srgbClr val="4590B8"/>
    <a:srgbClr val="969FA7"/>
    <a:srgbClr val="0072A1"/>
    <a:srgbClr val="FFFFFF"/>
    <a:srgbClr val="101A33"/>
    <a:srgbClr val="1C0814"/>
    <a:srgbClr val="360C1F"/>
    <a:srgbClr val="C9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7" autoAdjust="0"/>
    <p:restoredTop sz="94648" autoAdjust="0"/>
  </p:normalViewPr>
  <p:slideViewPr>
    <p:cSldViewPr snapToGrid="0">
      <p:cViewPr varScale="1">
        <p:scale>
          <a:sx n="113" d="100"/>
          <a:sy n="113" d="100"/>
        </p:scale>
        <p:origin x="3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 custT="1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Экранирование и кодирование вывода данных</a:t>
          </a:r>
          <a:endParaRPr lang="ru-RU" sz="2000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0BEF68B8-1228-47BB-83B5-7B9CD1E3F84E}">
      <dgm:prSet phldrT="[Text]" custT="1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Использование HTTP заголовков Content Security Policy (CSP)</a:t>
          </a:r>
          <a:endParaRPr lang="ru-RU" sz="2000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5605D28D-2CE6-4513-8566-952984E21E14}">
      <dgm:prSet phldrT="[Text]" custT="1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Валидация и фильтрация ввода данных.</a:t>
          </a:r>
          <a:endParaRPr lang="ru-RU" sz="2000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75548404-BFA6-449A-B770-49B9B712D5B5}">
      <dgm:prSet phldrT="[Text]" custT="1"/>
      <dgm:spPr>
        <a:solidFill>
          <a:srgbClr val="1A3260"/>
        </a:solidFill>
      </dgm:spPr>
      <dgm:t>
        <a:bodyPr rtlCol="0"/>
        <a:lstStyle/>
        <a:p>
          <a:pPr rtl="0">
            <a:spcAft>
              <a:spcPts val="0"/>
            </a:spcAft>
          </a:pP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Использование </a:t>
          </a:r>
          <a:r>
            <a:rPr lang="ru-RU" sz="2000" dirty="0" err="1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HTTPOnly</a:t>
          </a: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 и Secure флагов для куки</a:t>
          </a:r>
          <a:endParaRPr lang="ru-RU" sz="2000" noProof="0" dirty="0"/>
        </a:p>
      </dgm:t>
    </dgm:pt>
    <dgm:pt modelId="{300BF794-D27F-49EC-A31D-74864E04F943}" type="parTrans" cxnId="{570B1333-E4E4-495C-9967-A60D65917B10}">
      <dgm:prSet/>
      <dgm:spPr/>
      <dgm:t>
        <a:bodyPr/>
        <a:lstStyle/>
        <a:p>
          <a:endParaRPr lang="ru-RU"/>
        </a:p>
      </dgm:t>
    </dgm:pt>
    <dgm:pt modelId="{772950AB-F136-4AE9-A465-9D8CD7A182CE}" type="sibTrans" cxnId="{570B1333-E4E4-495C-9967-A60D65917B10}">
      <dgm:prSet/>
      <dgm:spPr/>
      <dgm:t>
        <a:bodyPr/>
        <a:lstStyle/>
        <a:p>
          <a:endParaRPr lang="ru-RU"/>
        </a:p>
      </dgm:t>
    </dgm:pt>
    <dgm:pt modelId="{8B6000E1-F928-4113-8586-9CBDD61C96D7}">
      <dgm:prSet phldrT="[Text]" custT="1"/>
      <dgm:spPr>
        <a:solidFill>
          <a:srgbClr val="1A3260"/>
        </a:solidFill>
      </dgm:spPr>
      <dgm:t>
        <a:bodyPr rtlCol="0"/>
        <a:lstStyle/>
        <a:p>
          <a:pPr rtl="0"/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Регулярное обновление и защита браузеров и фреймворков</a:t>
          </a:r>
          <a:endParaRPr lang="ru-RU" sz="2000" noProof="0" dirty="0"/>
        </a:p>
      </dgm:t>
    </dgm:pt>
    <dgm:pt modelId="{399397A0-2E31-4A6C-8E0F-1C46D45A0D50}" type="parTrans" cxnId="{5E527A07-17D6-4E86-83EE-ED69845EB5FB}">
      <dgm:prSet/>
      <dgm:spPr/>
      <dgm:t>
        <a:bodyPr/>
        <a:lstStyle/>
        <a:p>
          <a:endParaRPr lang="ru-RU"/>
        </a:p>
      </dgm:t>
    </dgm:pt>
    <dgm:pt modelId="{6FF0B4BA-444D-4C80-9182-71E2CD6DEA1F}" type="sibTrans" cxnId="{5E527A07-17D6-4E86-83EE-ED69845EB5FB}">
      <dgm:prSet/>
      <dgm:spPr/>
      <dgm:t>
        <a:bodyPr/>
        <a:lstStyle/>
        <a:p>
          <a:endParaRPr lang="ru-RU"/>
        </a:p>
      </dgm:t>
    </dgm:pt>
    <dgm:pt modelId="{177F3FFB-BAFC-4074-B1BF-39AD9E464938}">
      <dgm:prSet phldrT="[Text]" custT="1"/>
      <dgm:spPr>
        <a:solidFill>
          <a:srgbClr val="1A3260"/>
        </a:solidFill>
      </dgm:spPr>
      <dgm:t>
        <a:bodyPr rtlCol="0"/>
        <a:lstStyle/>
        <a:p>
          <a:pPr rtl="0">
            <a:spcAft>
              <a:spcPts val="0"/>
            </a:spcAft>
          </a:pPr>
          <a:r>
            <a: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Мониторинг и журналирование</a:t>
          </a:r>
          <a:endParaRPr lang="ru-RU" sz="2000" noProof="0" dirty="0"/>
        </a:p>
      </dgm:t>
    </dgm:pt>
    <dgm:pt modelId="{7084B4E2-0457-4387-8388-4BC22435EE6B}" type="parTrans" cxnId="{FBD1E260-D714-4E0A-AED2-196DE370E9A4}">
      <dgm:prSet/>
      <dgm:spPr/>
      <dgm:t>
        <a:bodyPr/>
        <a:lstStyle/>
        <a:p>
          <a:endParaRPr lang="ru-RU"/>
        </a:p>
      </dgm:t>
    </dgm:pt>
    <dgm:pt modelId="{04E21D75-C18D-45F1-B67F-9F135479AC66}" type="sibTrans" cxnId="{FBD1E260-D714-4E0A-AED2-196DE370E9A4}">
      <dgm:prSet/>
      <dgm:spPr/>
      <dgm:t>
        <a:bodyPr/>
        <a:lstStyle/>
        <a:p>
          <a:endParaRPr lang="ru-RU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6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6"/>
      <dgm:spPr/>
    </dgm:pt>
    <dgm:pt modelId="{429CABD1-4116-474B-81BF-735E2CA9DD00}" type="pres">
      <dgm:prSet presAssocID="{7E5AA53B-3EEE-4DE4-BB81-9044890C2946}" presName="dstNode" presStyleLbl="node1" presStyleIdx="0" presStyleCnt="6"/>
      <dgm:spPr/>
    </dgm:pt>
    <dgm:pt modelId="{58319267-C71E-43C9-94E1-827D0616C7A7}" type="pres">
      <dgm:prSet presAssocID="{6750AC01-D39D-4F3A-9DC8-2A211EE986A2}" presName="text_1" presStyleLbl="node1" presStyleIdx="0" presStyleCnt="6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6"/>
      <dgm:spPr>
        <a:solidFill>
          <a:schemeClr val="bg1"/>
        </a:solidFill>
      </dgm:spPr>
    </dgm:pt>
    <dgm:pt modelId="{95DE6538-27BD-44AF-A1A8-CA8F6B10FDD2}" type="pres">
      <dgm:prSet presAssocID="{0BEF68B8-1228-47BB-83B5-7B9CD1E3F84E}" presName="text_2" presStyleLbl="node1" presStyleIdx="1" presStyleCnt="6" custScaleY="109878" custLinFactNeighborY="2786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6"/>
      <dgm:spPr/>
    </dgm:pt>
    <dgm:pt modelId="{E131CE4A-9776-44F4-BC03-867682E21374}" type="pres">
      <dgm:prSet presAssocID="{5605D28D-2CE6-4513-8566-952984E21E14}" presName="text_3" presStyleLbl="node1" presStyleIdx="2" presStyleCnt="6" custScaleY="109627" custLinFactNeighborY="632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6" custLinFactNeighborY="5060"/>
      <dgm:spPr/>
    </dgm:pt>
    <dgm:pt modelId="{E8D6CFB2-0017-48B4-96CE-F9CB4123BF25}" type="pres">
      <dgm:prSet presAssocID="{75548404-BFA6-449A-B770-49B9B712D5B5}" presName="text_4" presStyleLbl="node1" presStyleIdx="3" presStyleCnt="6" custScaleY="109943" custLinFactNeighborY="15810">
        <dgm:presLayoutVars>
          <dgm:bulletEnabled val="1"/>
        </dgm:presLayoutVars>
      </dgm:prSet>
      <dgm:spPr/>
    </dgm:pt>
    <dgm:pt modelId="{D6635564-8691-442D-BC6D-431823A39776}" type="pres">
      <dgm:prSet presAssocID="{75548404-BFA6-449A-B770-49B9B712D5B5}" presName="accent_4" presStyleCnt="0"/>
      <dgm:spPr/>
    </dgm:pt>
    <dgm:pt modelId="{0FE03446-AB2E-43A1-86E3-D16038F1DBC4}" type="pres">
      <dgm:prSet presAssocID="{75548404-BFA6-449A-B770-49B9B712D5B5}" presName="accentRepeatNode" presStyleLbl="solidFgAcc1" presStyleIdx="3" presStyleCnt="6" custLinFactNeighborY="12650"/>
      <dgm:spPr/>
    </dgm:pt>
    <dgm:pt modelId="{CA4C9B23-BBFA-44F1-9C11-8B9D75517004}" type="pres">
      <dgm:prSet presAssocID="{8B6000E1-F928-4113-8586-9CBDD61C96D7}" presName="text_5" presStyleLbl="node1" presStyleIdx="4" presStyleCnt="6" custScaleY="114868" custLinFactNeighborY="15810">
        <dgm:presLayoutVars>
          <dgm:bulletEnabled val="1"/>
        </dgm:presLayoutVars>
      </dgm:prSet>
      <dgm:spPr/>
    </dgm:pt>
    <dgm:pt modelId="{990564A5-B2BE-4924-A32E-C55BA72E63CC}" type="pres">
      <dgm:prSet presAssocID="{8B6000E1-F928-4113-8586-9CBDD61C96D7}" presName="accent_5" presStyleCnt="0"/>
      <dgm:spPr/>
    </dgm:pt>
    <dgm:pt modelId="{AC343CC2-2B3E-43B3-8B6A-DA202E2923EA}" type="pres">
      <dgm:prSet presAssocID="{8B6000E1-F928-4113-8586-9CBDD61C96D7}" presName="accentRepeatNode" presStyleLbl="solidFgAcc1" presStyleIdx="4" presStyleCnt="6" custLinFactNeighborY="12650"/>
      <dgm:spPr/>
    </dgm:pt>
    <dgm:pt modelId="{0E3C4A39-3DD7-468A-87AE-0AECB54DE575}" type="pres">
      <dgm:prSet presAssocID="{177F3FFB-BAFC-4074-B1BF-39AD9E464938}" presName="text_6" presStyleLbl="node1" presStyleIdx="5" presStyleCnt="6">
        <dgm:presLayoutVars>
          <dgm:bulletEnabled val="1"/>
        </dgm:presLayoutVars>
      </dgm:prSet>
      <dgm:spPr/>
    </dgm:pt>
    <dgm:pt modelId="{916CE698-E9D9-4771-AD9D-0A825E86A55F}" type="pres">
      <dgm:prSet presAssocID="{177F3FFB-BAFC-4074-B1BF-39AD9E464938}" presName="accent_6" presStyleCnt="0"/>
      <dgm:spPr/>
    </dgm:pt>
    <dgm:pt modelId="{270303A8-B507-40FD-A5F2-02463C97DB12}" type="pres">
      <dgm:prSet presAssocID="{177F3FFB-BAFC-4074-B1BF-39AD9E464938}" presName="accentRepeatNode" presStyleLbl="solidFgAcc1" presStyleIdx="5" presStyleCnt="6"/>
      <dgm:spPr/>
    </dgm:pt>
  </dgm:ptLst>
  <dgm:cxnLst>
    <dgm:cxn modelId="{5E527A07-17D6-4E86-83EE-ED69845EB5FB}" srcId="{7E5AA53B-3EEE-4DE4-BB81-9044890C2946}" destId="{8B6000E1-F928-4113-8586-9CBDD61C96D7}" srcOrd="4" destOrd="0" parTransId="{399397A0-2E31-4A6C-8E0F-1C46D45A0D50}" sibTransId="{6FF0B4BA-444D-4C80-9182-71E2CD6DEA1F}"/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A556912E-89A9-42CD-80B1-A84A1860C349}" type="presOf" srcId="{8B6000E1-F928-4113-8586-9CBDD61C96D7}" destId="{CA4C9B23-BBFA-44F1-9C11-8B9D75517004}" srcOrd="0" destOrd="0" presId="urn:microsoft.com/office/officeart/2008/layout/VerticalCurvedList"/>
    <dgm:cxn modelId="{570B1333-E4E4-495C-9967-A60D65917B10}" srcId="{7E5AA53B-3EEE-4DE4-BB81-9044890C2946}" destId="{75548404-BFA6-449A-B770-49B9B712D5B5}" srcOrd="3" destOrd="0" parTransId="{300BF794-D27F-49EC-A31D-74864E04F943}" sibTransId="{772950AB-F136-4AE9-A465-9D8CD7A182CE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FBD1E260-D714-4E0A-AED2-196DE370E9A4}" srcId="{7E5AA53B-3EEE-4DE4-BB81-9044890C2946}" destId="{177F3FFB-BAFC-4074-B1BF-39AD9E464938}" srcOrd="5" destOrd="0" parTransId="{7084B4E2-0457-4387-8388-4BC22435EE6B}" sibTransId="{04E21D75-C18D-45F1-B67F-9F135479AC66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9143A9E1-F6D1-49C2-B6A4-D6A0A1D4C733}" type="presOf" srcId="{75548404-BFA6-449A-B770-49B9B712D5B5}" destId="{E8D6CFB2-0017-48B4-96CE-F9CB4123BF25}" srcOrd="0" destOrd="0" presId="urn:microsoft.com/office/officeart/2008/layout/VerticalCurvedList"/>
    <dgm:cxn modelId="{B2B258FF-FC1A-4F48-8E9A-8E099676C8BF}" type="presOf" srcId="{177F3FFB-BAFC-4074-B1BF-39AD9E464938}" destId="{0E3C4A39-3DD7-468A-87AE-0AECB54DE575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8D4BA2B1-7FD9-46DD-928C-660FF8FFDE88}" type="presParOf" srcId="{90561C55-3C6E-4D53-85E1-2C50BCDDA392}" destId="{E8D6CFB2-0017-48B4-96CE-F9CB4123BF25}" srcOrd="7" destOrd="0" presId="urn:microsoft.com/office/officeart/2008/layout/VerticalCurvedList"/>
    <dgm:cxn modelId="{66AF88B3-6296-411E-ABB7-9F7C3EC97D66}" type="presParOf" srcId="{90561C55-3C6E-4D53-85E1-2C50BCDDA392}" destId="{D6635564-8691-442D-BC6D-431823A39776}" srcOrd="8" destOrd="0" presId="urn:microsoft.com/office/officeart/2008/layout/VerticalCurvedList"/>
    <dgm:cxn modelId="{E2329B9A-91AB-4464-ABC6-74E13E1DE012}" type="presParOf" srcId="{D6635564-8691-442D-BC6D-431823A39776}" destId="{0FE03446-AB2E-43A1-86E3-D16038F1DBC4}" srcOrd="0" destOrd="0" presId="urn:microsoft.com/office/officeart/2008/layout/VerticalCurvedList"/>
    <dgm:cxn modelId="{69A60E10-A6F7-4BEA-A50A-420A9C187E22}" type="presParOf" srcId="{90561C55-3C6E-4D53-85E1-2C50BCDDA392}" destId="{CA4C9B23-BBFA-44F1-9C11-8B9D75517004}" srcOrd="9" destOrd="0" presId="urn:microsoft.com/office/officeart/2008/layout/VerticalCurvedList"/>
    <dgm:cxn modelId="{C0709A7F-D596-4D90-9C07-3672300B9B58}" type="presParOf" srcId="{90561C55-3C6E-4D53-85E1-2C50BCDDA392}" destId="{990564A5-B2BE-4924-A32E-C55BA72E63CC}" srcOrd="10" destOrd="0" presId="urn:microsoft.com/office/officeart/2008/layout/VerticalCurvedList"/>
    <dgm:cxn modelId="{7ED396D0-7B0F-47F1-BC29-56D17547758B}" type="presParOf" srcId="{990564A5-B2BE-4924-A32E-C55BA72E63CC}" destId="{AC343CC2-2B3E-43B3-8B6A-DA202E2923EA}" srcOrd="0" destOrd="0" presId="urn:microsoft.com/office/officeart/2008/layout/VerticalCurvedList"/>
    <dgm:cxn modelId="{A38CDA13-96E7-4169-B146-0E623F37BF23}" type="presParOf" srcId="{90561C55-3C6E-4D53-85E1-2C50BCDDA392}" destId="{0E3C4A39-3DD7-468A-87AE-0AECB54DE575}" srcOrd="11" destOrd="0" presId="urn:microsoft.com/office/officeart/2008/layout/VerticalCurvedList"/>
    <dgm:cxn modelId="{5B19683E-9A5E-4962-B3D4-BDB2B2A9D701}" type="presParOf" srcId="{90561C55-3C6E-4D53-85E1-2C50BCDDA392}" destId="{916CE698-E9D9-4771-AD9D-0A825E86A55F}" srcOrd="12" destOrd="0" presId="urn:microsoft.com/office/officeart/2008/layout/VerticalCurvedList"/>
    <dgm:cxn modelId="{AD3C618D-5CBF-4738-BA25-FDB0D62A4F38}" type="presParOf" srcId="{916CE698-E9D9-4771-AD9D-0A825E86A55F}" destId="{270303A8-B507-40FD-A5F2-02463C97DB12}" srcOrd="0" destOrd="0" presId="urn:microsoft.com/office/officeart/2008/layout/VerticalCurvedList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dirty="0"/>
            <a:t>Применение принципа минимальных привилегий</a:t>
          </a:r>
          <a:r>
            <a:rPr lang="ru-RU" b="0" noProof="0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0BEF68B8-1228-47BB-83B5-7B9CD1E3F84E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dirty="0"/>
            <a:t>Санитизация ввода данных</a:t>
          </a:r>
          <a:endParaRPr lang="ru-RU" b="0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5605D28D-2CE6-4513-8566-952984E21E14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dirty="0"/>
            <a:t>Использование белого списка</a:t>
          </a:r>
          <a:endParaRPr lang="ru-RU" b="0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DD849A80-EB18-4862-B560-0FE725223ED0}">
      <dgm:prSet/>
      <dgm:spPr>
        <a:solidFill>
          <a:srgbClr val="1A3260"/>
        </a:solidFill>
      </dgm:spPr>
      <dgm:t>
        <a:bodyPr/>
        <a:lstStyle/>
        <a:p>
          <a:pPr rtl="0"/>
          <a:r>
            <a:rPr lang="ru-RU" b="0" dirty="0"/>
            <a:t>Использование параметризованных запросов</a:t>
          </a:r>
        </a:p>
      </dgm:t>
    </dgm:pt>
    <dgm:pt modelId="{248CCF65-9B91-4FF6-A373-DC9DDD12E064}" type="parTrans" cxnId="{0D834663-F210-4001-9F39-E16C9F2A5710}">
      <dgm:prSet/>
      <dgm:spPr/>
      <dgm:t>
        <a:bodyPr/>
        <a:lstStyle/>
        <a:p>
          <a:endParaRPr lang="ru-RU"/>
        </a:p>
      </dgm:t>
    </dgm:pt>
    <dgm:pt modelId="{C8DC4B94-0ECE-4E8A-BF9F-26B8D0DA6ED3}" type="sibTrans" cxnId="{0D834663-F210-4001-9F39-E16C9F2A5710}">
      <dgm:prSet/>
      <dgm:spPr/>
      <dgm:t>
        <a:bodyPr/>
        <a:lstStyle/>
        <a:p>
          <a:endParaRPr lang="ru-RU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82C69AA3-6900-4571-9D4C-A41357C9C8F8}" type="pres">
      <dgm:prSet presAssocID="{DD849A80-EB18-4862-B560-0FE725223ED0}" presName="text_4" presStyleLbl="node1" presStyleIdx="3" presStyleCnt="4">
        <dgm:presLayoutVars>
          <dgm:bulletEnabled val="1"/>
        </dgm:presLayoutVars>
      </dgm:prSet>
      <dgm:spPr/>
    </dgm:pt>
    <dgm:pt modelId="{B23BFA0E-0442-490F-8848-F67D89880F69}" type="pres">
      <dgm:prSet presAssocID="{DD849A80-EB18-4862-B560-0FE725223ED0}" presName="accent_4" presStyleCnt="0"/>
      <dgm:spPr/>
    </dgm:pt>
    <dgm:pt modelId="{235FF52B-B472-4F53-8F00-46815ED74EBC}" type="pres">
      <dgm:prSet presAssocID="{DD849A80-EB18-4862-B560-0FE725223ED0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0D834663-F210-4001-9F39-E16C9F2A5710}" srcId="{7E5AA53B-3EEE-4DE4-BB81-9044890C2946}" destId="{DD849A80-EB18-4862-B560-0FE725223ED0}" srcOrd="3" destOrd="0" parTransId="{248CCF65-9B91-4FF6-A373-DC9DDD12E064}" sibTransId="{C8DC4B94-0ECE-4E8A-BF9F-26B8D0DA6ED3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B09FF789-C843-473B-9FAA-6BA34C14FF1F}" type="presOf" srcId="{DD849A80-EB18-4862-B560-0FE725223ED0}" destId="{82C69AA3-6900-4571-9D4C-A41357C9C8F8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7C9F5B4A-4AF3-451B-8154-C1B5AA804462}" type="presParOf" srcId="{90561C55-3C6E-4D53-85E1-2C50BCDDA392}" destId="{82C69AA3-6900-4571-9D4C-A41357C9C8F8}" srcOrd="7" destOrd="0" presId="urn:microsoft.com/office/officeart/2008/layout/VerticalCurvedList"/>
    <dgm:cxn modelId="{36752632-2EE2-4575-95B9-E257B132A50D}" type="presParOf" srcId="{90561C55-3C6E-4D53-85E1-2C50BCDDA392}" destId="{B23BFA0E-0442-490F-8848-F67D89880F69}" srcOrd="8" destOrd="0" presId="urn:microsoft.com/office/officeart/2008/layout/VerticalCurvedList"/>
    <dgm:cxn modelId="{9C3B8FEE-555E-49FA-A39C-74FEDF73DE84}" type="presParOf" srcId="{B23BFA0E-0442-490F-8848-F67D89880F69}" destId="{235FF52B-B472-4F53-8F00-46815ED74E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noProof="0" dirty="0"/>
            <a:t> Использование </a:t>
          </a:r>
          <a:r>
            <a:rPr lang="en-US" b="0" noProof="0" dirty="0"/>
            <a:t>CSRF</a:t>
          </a:r>
          <a:r>
            <a:rPr lang="ru-RU" b="0" noProof="0" dirty="0"/>
            <a:t> Токена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0BEF68B8-1228-47BB-83B5-7B9CD1E3F84E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noProof="0" dirty="0"/>
            <a:t>Использование Атрибута </a:t>
          </a:r>
          <a:r>
            <a:rPr lang="en-US" b="0" noProof="0" dirty="0"/>
            <a:t>SameSite </a:t>
          </a:r>
          <a:r>
            <a:rPr lang="ru-RU" b="0" noProof="0" dirty="0"/>
            <a:t>- </a:t>
          </a:r>
          <a:r>
            <a:rPr lang="en-US" b="0" noProof="0" dirty="0"/>
            <a:t>Strict </a:t>
          </a:r>
          <a:r>
            <a:rPr lang="ru-RU" b="0" noProof="0" dirty="0"/>
            <a:t> у авторизационных </a:t>
          </a:r>
          <a:r>
            <a:rPr lang="en-US" b="0" noProof="0" dirty="0"/>
            <a:t>cookie</a:t>
          </a:r>
          <a:endParaRPr lang="ru-RU" b="0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5605D28D-2CE6-4513-8566-952984E21E14}">
      <dgm:prSet phldrT="[Text]"/>
      <dgm:spPr>
        <a:solidFill>
          <a:srgbClr val="1A3260"/>
        </a:solidFill>
      </dgm:spPr>
      <dgm:t>
        <a:bodyPr rtlCol="0"/>
        <a:lstStyle/>
        <a:p>
          <a:pPr rtl="0">
            <a:lnSpc>
              <a:spcPct val="100000"/>
            </a:lnSpc>
          </a:pPr>
          <a:r>
            <a:rPr lang="ru-RU" b="0" noProof="0" dirty="0"/>
            <a:t>Проверка заголовка</a:t>
          </a:r>
          <a:r>
            <a:rPr lang="ru-RU" b="0" baseline="0" noProof="0" dirty="0"/>
            <a:t> </a:t>
          </a:r>
          <a:r>
            <a:rPr lang="en-US" b="0" baseline="0" noProof="0" dirty="0"/>
            <a:t>Authorization </a:t>
          </a:r>
          <a:r>
            <a:rPr lang="ru-RU" b="0" baseline="0" noProof="0" dirty="0"/>
            <a:t>вместо </a:t>
          </a:r>
          <a:r>
            <a:rPr lang="en-US" b="0" baseline="0" noProof="0" dirty="0"/>
            <a:t>cookie </a:t>
          </a:r>
          <a:r>
            <a:rPr lang="ru-RU" b="0" baseline="0" noProof="0" dirty="0"/>
            <a:t>для авторизации</a:t>
          </a:r>
          <a:endParaRPr lang="ru-RU" b="0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DD849A80-EB18-4862-B560-0FE725223ED0}">
      <dgm:prSet/>
      <dgm:spPr>
        <a:solidFill>
          <a:srgbClr val="1A3260"/>
        </a:solidFill>
      </dgm:spPr>
      <dgm:t>
        <a:bodyPr/>
        <a:lstStyle/>
        <a:p>
          <a:pPr rtl="0"/>
          <a:r>
            <a:rPr lang="ru-RU" b="0" dirty="0"/>
            <a:t>Использование </a:t>
          </a:r>
          <a:r>
            <a:rPr lang="en-US" b="0" dirty="0"/>
            <a:t>CAPTCHA</a:t>
          </a:r>
          <a:endParaRPr lang="ru-RU" b="0" dirty="0"/>
        </a:p>
      </dgm:t>
    </dgm:pt>
    <dgm:pt modelId="{248CCF65-9B91-4FF6-A373-DC9DDD12E064}" type="parTrans" cxnId="{0D834663-F210-4001-9F39-E16C9F2A5710}">
      <dgm:prSet/>
      <dgm:spPr/>
      <dgm:t>
        <a:bodyPr/>
        <a:lstStyle/>
        <a:p>
          <a:endParaRPr lang="ru-RU"/>
        </a:p>
      </dgm:t>
    </dgm:pt>
    <dgm:pt modelId="{C8DC4B94-0ECE-4E8A-BF9F-26B8D0DA6ED3}" type="sibTrans" cxnId="{0D834663-F210-4001-9F39-E16C9F2A5710}">
      <dgm:prSet/>
      <dgm:spPr/>
      <dgm:t>
        <a:bodyPr/>
        <a:lstStyle/>
        <a:p>
          <a:endParaRPr lang="ru-RU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82C69AA3-6900-4571-9D4C-A41357C9C8F8}" type="pres">
      <dgm:prSet presAssocID="{DD849A80-EB18-4862-B560-0FE725223ED0}" presName="text_4" presStyleLbl="node1" presStyleIdx="3" presStyleCnt="4">
        <dgm:presLayoutVars>
          <dgm:bulletEnabled val="1"/>
        </dgm:presLayoutVars>
      </dgm:prSet>
      <dgm:spPr/>
    </dgm:pt>
    <dgm:pt modelId="{B23BFA0E-0442-490F-8848-F67D89880F69}" type="pres">
      <dgm:prSet presAssocID="{DD849A80-EB18-4862-B560-0FE725223ED0}" presName="accent_4" presStyleCnt="0"/>
      <dgm:spPr/>
    </dgm:pt>
    <dgm:pt modelId="{235FF52B-B472-4F53-8F00-46815ED74EBC}" type="pres">
      <dgm:prSet presAssocID="{DD849A80-EB18-4862-B560-0FE725223ED0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0D834663-F210-4001-9F39-E16C9F2A5710}" srcId="{7E5AA53B-3EEE-4DE4-BB81-9044890C2946}" destId="{DD849A80-EB18-4862-B560-0FE725223ED0}" srcOrd="3" destOrd="0" parTransId="{248CCF65-9B91-4FF6-A373-DC9DDD12E064}" sibTransId="{C8DC4B94-0ECE-4E8A-BF9F-26B8D0DA6ED3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B09FF789-C843-473B-9FAA-6BA34C14FF1F}" type="presOf" srcId="{DD849A80-EB18-4862-B560-0FE725223ED0}" destId="{82C69AA3-6900-4571-9D4C-A41357C9C8F8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7C9F5B4A-4AF3-451B-8154-C1B5AA804462}" type="presParOf" srcId="{90561C55-3C6E-4D53-85E1-2C50BCDDA392}" destId="{82C69AA3-6900-4571-9D4C-A41357C9C8F8}" srcOrd="7" destOrd="0" presId="urn:microsoft.com/office/officeart/2008/layout/VerticalCurvedList"/>
    <dgm:cxn modelId="{36752632-2EE2-4575-95B9-E257B132A50D}" type="presParOf" srcId="{90561C55-3C6E-4D53-85E1-2C50BCDDA392}" destId="{B23BFA0E-0442-490F-8848-F67D89880F69}" srcOrd="8" destOrd="0" presId="urn:microsoft.com/office/officeart/2008/layout/VerticalCurvedList"/>
    <dgm:cxn modelId="{9C3B8FEE-555E-49FA-A39C-74FEDF73DE84}" type="presParOf" srcId="{B23BFA0E-0442-490F-8848-F67D89880F69}" destId="{235FF52B-B472-4F53-8F00-46815ED74E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777042" y="-732184"/>
          <a:ext cx="5689858" cy="5689858"/>
        </a:xfrm>
        <a:prstGeom prst="blockArc">
          <a:avLst>
            <a:gd name="adj1" fmla="val 18900000"/>
            <a:gd name="adj2" fmla="val 2700000"/>
            <a:gd name="adj3" fmla="val 38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40726" y="222514"/>
          <a:ext cx="10504879" cy="444859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Экранирование и кодирование вывода данных</a:t>
          </a:r>
          <a:endParaRPr lang="ru-RU" sz="2000" kern="1200" noProof="0" dirty="0"/>
        </a:p>
      </dsp:txBody>
      <dsp:txXfrm>
        <a:off x="340726" y="222514"/>
        <a:ext cx="10504879" cy="444859"/>
      </dsp:txXfrm>
    </dsp:sp>
    <dsp:sp modelId="{07CB3071-D555-47DA-A36A-69EB91531FD8}">
      <dsp:nvSpPr>
        <dsp:cNvPr id="0" name=""/>
        <dsp:cNvSpPr/>
      </dsp:nvSpPr>
      <dsp:spPr>
        <a:xfrm>
          <a:off x="62689" y="166906"/>
          <a:ext cx="556074" cy="556074"/>
        </a:xfrm>
        <a:prstGeom prst="ellipse">
          <a:avLst/>
        </a:prstGeom>
        <a:solidFill>
          <a:schemeClr val="bg1"/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06654" y="880141"/>
          <a:ext cx="10138951" cy="48880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Использование HTTP заголовков Content Security Policy (CSP)</a:t>
          </a:r>
          <a:endParaRPr lang="ru-RU" sz="2000" kern="1200" noProof="0" dirty="0"/>
        </a:p>
      </dsp:txBody>
      <dsp:txXfrm>
        <a:off x="706654" y="880141"/>
        <a:ext cx="10138951" cy="488802"/>
      </dsp:txXfrm>
    </dsp:sp>
    <dsp:sp modelId="{3F8116AC-FAC3-4E95-9865-93CCFEB191B9}">
      <dsp:nvSpPr>
        <dsp:cNvPr id="0" name=""/>
        <dsp:cNvSpPr/>
      </dsp:nvSpPr>
      <dsp:spPr>
        <a:xfrm>
          <a:off x="428616" y="834111"/>
          <a:ext cx="556074" cy="556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873983" y="1563643"/>
          <a:ext cx="9971622" cy="487686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Валидация и фильтрация ввода данных.</a:t>
          </a:r>
          <a:endParaRPr lang="ru-RU" sz="2000" kern="1200" noProof="0" dirty="0"/>
        </a:p>
      </dsp:txBody>
      <dsp:txXfrm>
        <a:off x="873983" y="1563643"/>
        <a:ext cx="9971622" cy="487686"/>
      </dsp:txXfrm>
    </dsp:sp>
    <dsp:sp modelId="{A965097E-32F1-4AB8-8C4E-2814A7596B2F}">
      <dsp:nvSpPr>
        <dsp:cNvPr id="0" name=""/>
        <dsp:cNvSpPr/>
      </dsp:nvSpPr>
      <dsp:spPr>
        <a:xfrm>
          <a:off x="595946" y="1529453"/>
          <a:ext cx="556074" cy="556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6CFB2-0017-48B4-96CE-F9CB4123BF25}">
      <dsp:nvSpPr>
        <dsp:cNvPr id="0" name=""/>
        <dsp:cNvSpPr/>
      </dsp:nvSpPr>
      <dsp:spPr>
        <a:xfrm>
          <a:off x="873983" y="2271922"/>
          <a:ext cx="9971622" cy="489091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Использование </a:t>
          </a:r>
          <a:r>
            <a:rPr lang="ru-RU" sz="2000" kern="1200" dirty="0" err="1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HTTPOnly</a:t>
          </a: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 и Secure флагов для куки</a:t>
          </a:r>
          <a:endParaRPr lang="ru-RU" sz="2000" kern="1200" noProof="0" dirty="0"/>
        </a:p>
      </dsp:txBody>
      <dsp:txXfrm>
        <a:off x="873983" y="2271922"/>
        <a:ext cx="9971622" cy="489091"/>
      </dsp:txXfrm>
    </dsp:sp>
    <dsp:sp modelId="{0FE03446-AB2E-43A1-86E3-D16038F1DBC4}">
      <dsp:nvSpPr>
        <dsp:cNvPr id="0" name=""/>
        <dsp:cNvSpPr/>
      </dsp:nvSpPr>
      <dsp:spPr>
        <a:xfrm>
          <a:off x="595946" y="2238442"/>
          <a:ext cx="556074" cy="556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C9B23-BBFA-44F1-9C11-8B9D75517004}">
      <dsp:nvSpPr>
        <dsp:cNvPr id="0" name=""/>
        <dsp:cNvSpPr/>
      </dsp:nvSpPr>
      <dsp:spPr>
        <a:xfrm>
          <a:off x="706654" y="2928172"/>
          <a:ext cx="10138951" cy="511001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Регулярное обновление и защита браузеров и фреймворков</a:t>
          </a:r>
          <a:endParaRPr lang="ru-RU" sz="2000" kern="1200" noProof="0" dirty="0"/>
        </a:p>
      </dsp:txBody>
      <dsp:txXfrm>
        <a:off x="706654" y="2928172"/>
        <a:ext cx="10138951" cy="511001"/>
      </dsp:txXfrm>
    </dsp:sp>
    <dsp:sp modelId="{AC343CC2-2B3E-43B3-8B6A-DA202E2923EA}">
      <dsp:nvSpPr>
        <dsp:cNvPr id="0" name=""/>
        <dsp:cNvSpPr/>
      </dsp:nvSpPr>
      <dsp:spPr>
        <a:xfrm>
          <a:off x="428616" y="2905647"/>
          <a:ext cx="556074" cy="556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C4A39-3DD7-468A-87AE-0AECB54DE575}">
      <dsp:nvSpPr>
        <dsp:cNvPr id="0" name=""/>
        <dsp:cNvSpPr/>
      </dsp:nvSpPr>
      <dsp:spPr>
        <a:xfrm>
          <a:off x="340726" y="3558116"/>
          <a:ext cx="10504879" cy="444859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107" tIns="50800" rIns="50800" bIns="5080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000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rPr>
            <a:t>Мониторинг и журналирование</a:t>
          </a:r>
          <a:endParaRPr lang="ru-RU" sz="2000" kern="1200" noProof="0" dirty="0"/>
        </a:p>
      </dsp:txBody>
      <dsp:txXfrm>
        <a:off x="340726" y="3558116"/>
        <a:ext cx="10504879" cy="444859"/>
      </dsp:txXfrm>
    </dsp:sp>
    <dsp:sp modelId="{270303A8-B507-40FD-A5F2-02463C97DB12}">
      <dsp:nvSpPr>
        <dsp:cNvPr id="0" name=""/>
        <dsp:cNvSpPr/>
      </dsp:nvSpPr>
      <dsp:spPr>
        <a:xfrm>
          <a:off x="62689" y="3502508"/>
          <a:ext cx="556074" cy="5560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3923455" y="-602416"/>
          <a:ext cx="4675858" cy="4675858"/>
        </a:xfrm>
        <a:prstGeom prst="blockArc">
          <a:avLst>
            <a:gd name="adj1" fmla="val 18900000"/>
            <a:gd name="adj2" fmla="val 2700000"/>
            <a:gd name="adj3" fmla="val 462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94304" y="266852"/>
          <a:ext cx="10477284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dirty="0"/>
            <a:t>Применение принципа минимальных привилегий</a:t>
          </a:r>
          <a:r>
            <a:rPr lang="ru-RU" sz="2500" b="0" kern="1200" noProof="0" dirty="0"/>
            <a:t>	</a:t>
          </a:r>
        </a:p>
      </dsp:txBody>
      <dsp:txXfrm>
        <a:off x="394304" y="266852"/>
        <a:ext cx="10477284" cy="533982"/>
      </dsp:txXfrm>
    </dsp:sp>
    <dsp:sp modelId="{07CB3071-D555-47DA-A36A-69EB91531FD8}">
      <dsp:nvSpPr>
        <dsp:cNvPr id="0" name=""/>
        <dsp:cNvSpPr/>
      </dsp:nvSpPr>
      <dsp:spPr>
        <a:xfrm>
          <a:off x="60565" y="200104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00449" y="1067965"/>
          <a:ext cx="10171140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dirty="0"/>
            <a:t>Санитизация ввода данных</a:t>
          </a:r>
          <a:endParaRPr lang="ru-RU" sz="2500" b="0" kern="1200" noProof="0" dirty="0"/>
        </a:p>
      </dsp:txBody>
      <dsp:txXfrm>
        <a:off x="700449" y="1067965"/>
        <a:ext cx="10171140" cy="533982"/>
      </dsp:txXfrm>
    </dsp:sp>
    <dsp:sp modelId="{3F8116AC-FAC3-4E95-9865-93CCFEB191B9}">
      <dsp:nvSpPr>
        <dsp:cNvPr id="0" name=""/>
        <dsp:cNvSpPr/>
      </dsp:nvSpPr>
      <dsp:spPr>
        <a:xfrm>
          <a:off x="366710" y="1001217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00449" y="1869078"/>
          <a:ext cx="10171140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dirty="0"/>
            <a:t>Использование белого списка</a:t>
          </a:r>
          <a:endParaRPr lang="ru-RU" sz="2500" b="0" kern="1200" noProof="0" dirty="0"/>
        </a:p>
      </dsp:txBody>
      <dsp:txXfrm>
        <a:off x="700449" y="1869078"/>
        <a:ext cx="10171140" cy="533982"/>
      </dsp:txXfrm>
    </dsp:sp>
    <dsp:sp modelId="{A965097E-32F1-4AB8-8C4E-2814A7596B2F}">
      <dsp:nvSpPr>
        <dsp:cNvPr id="0" name=""/>
        <dsp:cNvSpPr/>
      </dsp:nvSpPr>
      <dsp:spPr>
        <a:xfrm>
          <a:off x="366710" y="1802330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69AA3-6900-4571-9D4C-A41357C9C8F8}">
      <dsp:nvSpPr>
        <dsp:cNvPr id="0" name=""/>
        <dsp:cNvSpPr/>
      </dsp:nvSpPr>
      <dsp:spPr>
        <a:xfrm>
          <a:off x="394304" y="2670190"/>
          <a:ext cx="10477284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dirty="0"/>
            <a:t>Использование параметризованных запросов</a:t>
          </a:r>
        </a:p>
      </dsp:txBody>
      <dsp:txXfrm>
        <a:off x="394304" y="2670190"/>
        <a:ext cx="10477284" cy="533982"/>
      </dsp:txXfrm>
    </dsp:sp>
    <dsp:sp modelId="{235FF52B-B472-4F53-8F00-46815ED74EBC}">
      <dsp:nvSpPr>
        <dsp:cNvPr id="0" name=""/>
        <dsp:cNvSpPr/>
      </dsp:nvSpPr>
      <dsp:spPr>
        <a:xfrm>
          <a:off x="60565" y="2603443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3923455" y="-602416"/>
          <a:ext cx="4675858" cy="4675858"/>
        </a:xfrm>
        <a:prstGeom prst="blockArc">
          <a:avLst>
            <a:gd name="adj1" fmla="val 18900000"/>
            <a:gd name="adj2" fmla="val 2700000"/>
            <a:gd name="adj3" fmla="val 462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94304" y="266852"/>
          <a:ext cx="10477284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noProof="0" dirty="0"/>
            <a:t> Использование </a:t>
          </a:r>
          <a:r>
            <a:rPr lang="en-US" sz="2500" b="0" kern="1200" noProof="0" dirty="0"/>
            <a:t>CSRF</a:t>
          </a:r>
          <a:r>
            <a:rPr lang="ru-RU" sz="2500" b="0" kern="1200" noProof="0" dirty="0"/>
            <a:t> Токена	</a:t>
          </a:r>
        </a:p>
      </dsp:txBody>
      <dsp:txXfrm>
        <a:off x="394304" y="266852"/>
        <a:ext cx="10477284" cy="533982"/>
      </dsp:txXfrm>
    </dsp:sp>
    <dsp:sp modelId="{07CB3071-D555-47DA-A36A-69EB91531FD8}">
      <dsp:nvSpPr>
        <dsp:cNvPr id="0" name=""/>
        <dsp:cNvSpPr/>
      </dsp:nvSpPr>
      <dsp:spPr>
        <a:xfrm>
          <a:off x="60565" y="200104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00449" y="1067965"/>
          <a:ext cx="10171140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noProof="0" dirty="0"/>
            <a:t>Использование Атрибута </a:t>
          </a:r>
          <a:r>
            <a:rPr lang="en-US" sz="2500" b="0" kern="1200" noProof="0" dirty="0"/>
            <a:t>SameSite </a:t>
          </a:r>
          <a:r>
            <a:rPr lang="ru-RU" sz="2500" b="0" kern="1200" noProof="0" dirty="0"/>
            <a:t>- </a:t>
          </a:r>
          <a:r>
            <a:rPr lang="en-US" sz="2500" b="0" kern="1200" noProof="0" dirty="0"/>
            <a:t>Strict </a:t>
          </a:r>
          <a:r>
            <a:rPr lang="ru-RU" sz="2500" b="0" kern="1200" noProof="0" dirty="0"/>
            <a:t> у авторизационных </a:t>
          </a:r>
          <a:r>
            <a:rPr lang="en-US" sz="2500" b="0" kern="1200" noProof="0" dirty="0"/>
            <a:t>cookie</a:t>
          </a:r>
          <a:endParaRPr lang="ru-RU" sz="2500" b="0" kern="1200" noProof="0" dirty="0"/>
        </a:p>
      </dsp:txBody>
      <dsp:txXfrm>
        <a:off x="700449" y="1067965"/>
        <a:ext cx="10171140" cy="533982"/>
      </dsp:txXfrm>
    </dsp:sp>
    <dsp:sp modelId="{3F8116AC-FAC3-4E95-9865-93CCFEB191B9}">
      <dsp:nvSpPr>
        <dsp:cNvPr id="0" name=""/>
        <dsp:cNvSpPr/>
      </dsp:nvSpPr>
      <dsp:spPr>
        <a:xfrm>
          <a:off x="366710" y="1001217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00449" y="1869078"/>
          <a:ext cx="10171140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noProof="0" dirty="0"/>
            <a:t>Проверка заголовка</a:t>
          </a:r>
          <a:r>
            <a:rPr lang="ru-RU" sz="2500" b="0" kern="1200" baseline="0" noProof="0" dirty="0"/>
            <a:t> </a:t>
          </a:r>
          <a:r>
            <a:rPr lang="en-US" sz="2500" b="0" kern="1200" baseline="0" noProof="0" dirty="0"/>
            <a:t>Authorization </a:t>
          </a:r>
          <a:r>
            <a:rPr lang="ru-RU" sz="2500" b="0" kern="1200" baseline="0" noProof="0" dirty="0"/>
            <a:t>вместо </a:t>
          </a:r>
          <a:r>
            <a:rPr lang="en-US" sz="2500" b="0" kern="1200" baseline="0" noProof="0" dirty="0"/>
            <a:t>cookie </a:t>
          </a:r>
          <a:r>
            <a:rPr lang="ru-RU" sz="2500" b="0" kern="1200" baseline="0" noProof="0" dirty="0"/>
            <a:t>для авторизации</a:t>
          </a:r>
          <a:endParaRPr lang="ru-RU" sz="2500" b="0" kern="1200" noProof="0" dirty="0"/>
        </a:p>
      </dsp:txBody>
      <dsp:txXfrm>
        <a:off x="700449" y="1869078"/>
        <a:ext cx="10171140" cy="533982"/>
      </dsp:txXfrm>
    </dsp:sp>
    <dsp:sp modelId="{A965097E-32F1-4AB8-8C4E-2814A7596B2F}">
      <dsp:nvSpPr>
        <dsp:cNvPr id="0" name=""/>
        <dsp:cNvSpPr/>
      </dsp:nvSpPr>
      <dsp:spPr>
        <a:xfrm>
          <a:off x="366710" y="1802330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69AA3-6900-4571-9D4C-A41357C9C8F8}">
      <dsp:nvSpPr>
        <dsp:cNvPr id="0" name=""/>
        <dsp:cNvSpPr/>
      </dsp:nvSpPr>
      <dsp:spPr>
        <a:xfrm>
          <a:off x="394304" y="2670190"/>
          <a:ext cx="10477284" cy="533982"/>
        </a:xfrm>
        <a:prstGeom prst="rect">
          <a:avLst/>
        </a:prstGeom>
        <a:solidFill>
          <a:srgbClr val="1A3260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23849" tIns="63500" rIns="63500" bIns="6350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kern="1200" dirty="0"/>
            <a:t>Использование </a:t>
          </a:r>
          <a:r>
            <a:rPr lang="en-US" sz="2500" b="0" kern="1200" dirty="0"/>
            <a:t>CAPTCHA</a:t>
          </a:r>
          <a:endParaRPr lang="ru-RU" sz="2500" b="0" kern="1200" dirty="0"/>
        </a:p>
      </dsp:txBody>
      <dsp:txXfrm>
        <a:off x="394304" y="2670190"/>
        <a:ext cx="10477284" cy="533982"/>
      </dsp:txXfrm>
    </dsp:sp>
    <dsp:sp modelId="{235FF52B-B472-4F53-8F00-46815ED74EBC}">
      <dsp:nvSpPr>
        <dsp:cNvPr id="0" name=""/>
        <dsp:cNvSpPr/>
      </dsp:nvSpPr>
      <dsp:spPr>
        <a:xfrm>
          <a:off x="60565" y="2603443"/>
          <a:ext cx="667478" cy="667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379FFB6-878B-4D89-A9F1-908C5F95EE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2E99EC-6DAC-40C4-9CB0-839F70689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BDA83-60F2-4E0C-99F1-3B198C71DA2A}" type="datetimeFigureOut">
              <a:rPr lang="ru-RU" smtClean="0"/>
              <a:t>20.06.2025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36B973-D323-4241-8653-DEF1D8539A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8A117-4B44-48FF-836C-74493A381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C633-CCA9-47F5-BCED-A56AA433DC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14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1020-F5BA-43CF-AAA9-C04B3B12EF98}" type="datetimeFigureOut">
              <a:rPr lang="ru-RU" smtClean="0"/>
              <a:t>19.06.2025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73D1A-6084-4304-99B6-284B940079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4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17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237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267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8884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33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C8F0DE-DCFB-4354-8112-588B45C19F1A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87B0E0-754C-4477-80CA-88F8319B7DB8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317EAC1-6C84-442C-8E88-63BE1308B9AD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B404C7-1C11-4173-AE97-ACE1CDB1DA83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A08C9A-F61E-410C-8D06-F83B63A4711B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D3CD88-AC87-4FC1-8AA2-0F05556AC852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B0009C-43A7-442E-9A53-3E5FB03870F2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 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9AADAC3-179B-49AA-A8D7-B2E70D0E899B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Щелкните значок, чтобы добавить изображение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E95E6D-EE8A-4AB4-A6E4-CDAE9E775FB7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B28829-F9CE-4A60-BAD2-B30F1BE4EFBD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7638BE5-3B62-4C03-A438-E1216F2C074B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85DD959-E34E-4321-8E46-EA4484D707DA}" type="datetime1">
              <a:rPr lang="ru-RU" smtClean="0"/>
              <a:t>19.06.2025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0" name="Прямоугольник 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C7A4189-7BEC-4E8B-A64E-7186CDEC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776"/>
            <a:ext cx="12192000" cy="68807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80250E-27BE-4068-BBC4-8D48F349554B}"/>
              </a:ext>
            </a:extLst>
          </p:cNvPr>
          <p:cNvSpPr txBox="1"/>
          <p:nvPr/>
        </p:nvSpPr>
        <p:spPr>
          <a:xfrm>
            <a:off x="8065970" y="4546791"/>
            <a:ext cx="3742463" cy="1323439"/>
          </a:xfrm>
          <a:prstGeom prst="rect">
            <a:avLst/>
          </a:prstGeom>
          <a:solidFill>
            <a:srgbClr val="101A33">
              <a:alpha val="45000"/>
            </a:srgbClr>
          </a:solidFill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Выполнил:</a:t>
            </a:r>
          </a:p>
          <a:p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обучающийся группы ОБС 21-2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Кудин А.Ю.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Руководитель: Бычай А.П.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8EAE8-9B77-4C76-8048-69D69A22C83F}"/>
              </a:ext>
            </a:extLst>
          </p:cNvPr>
          <p:cNvSpPr txBox="1"/>
          <p:nvPr/>
        </p:nvSpPr>
        <p:spPr>
          <a:xfrm>
            <a:off x="1598008" y="2444539"/>
            <a:ext cx="9315275" cy="1656177"/>
          </a:xfrm>
          <a:prstGeom prst="rect">
            <a:avLst/>
          </a:prstGeom>
          <a:solidFill>
            <a:srgbClr val="1A3260">
              <a:alpha val="75000"/>
            </a:srgbClr>
          </a:solidFill>
        </p:spPr>
        <p:txBody>
          <a:bodyPr wrap="square" lIns="108000" tIns="180000" rIns="108000" bIns="18000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ДИПЛОМНАЯ РАБОТА</a:t>
            </a:r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 «Анализ современных угроз информационной безопасности на веб-сайтах и способы их предотвращения»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D9AE9-40F9-408A-B26D-373176EE4831}"/>
              </a:ext>
            </a:extLst>
          </p:cNvPr>
          <p:cNvSpPr txBox="1"/>
          <p:nvPr/>
        </p:nvSpPr>
        <p:spPr>
          <a:xfrm>
            <a:off x="0" y="5920374"/>
            <a:ext cx="12192000" cy="707886"/>
          </a:xfrm>
          <a:prstGeom prst="rect">
            <a:avLst/>
          </a:prstGeom>
          <a:solidFill>
            <a:srgbClr val="101A33">
              <a:alpha val="39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Калининград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2025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F7085-E887-404B-9B15-F3945EA5CA13}"/>
              </a:ext>
            </a:extLst>
          </p:cNvPr>
          <p:cNvSpPr txBox="1">
            <a:spLocks/>
          </p:cNvSpPr>
          <p:nvPr/>
        </p:nvSpPr>
        <p:spPr>
          <a:xfrm>
            <a:off x="0" y="22777"/>
            <a:ext cx="12192000" cy="1975688"/>
          </a:xfrm>
          <a:prstGeom prst="rect">
            <a:avLst/>
          </a:prstGeom>
          <a:solidFill>
            <a:srgbClr val="101A33">
              <a:alpha val="36000"/>
            </a:srgbClr>
          </a:solidFill>
          <a:ln w="6350" cap="rnd">
            <a:noFill/>
          </a:ln>
        </p:spPr>
        <p:txBody>
          <a:bodyPr vert="horz" tIns="252000" bIns="252000" anchor="b" anchorCtr="0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lang="en-US" sz="48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  <a:t>Министерство образования Калининградской области</a:t>
            </a:r>
            <a:b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</a:br>
            <a: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  <a:t>государственное автономное учреждение Калининградской области</a:t>
            </a:r>
            <a:b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</a:br>
            <a: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  <a:t>профессиональная образовательная организация</a:t>
            </a:r>
            <a:b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</a:br>
            <a:r>
              <a:rPr kumimoji="0" lang="ru-RU" sz="2400" b="1" i="0" u="none" strike="noStrike" kern="0" cap="none" spc="0" normalizeH="0" noProof="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rPr>
              <a:t>«Колледж предпринимательства»</a:t>
            </a:r>
            <a:endParaRPr kumimoji="0" lang="en-US" sz="2400" b="1" i="0" u="none" strike="noStrike" kern="0" cap="none" spc="0" normalizeH="0" noProof="0" dirty="0">
              <a:ln w="3200">
                <a:solidFill>
                  <a:srgbClr val="444D26">
                    <a:shade val="75000"/>
                    <a:alpha val="25000"/>
                  </a:srgbClr>
                </a:solidFill>
                <a:prstDash val="solid"/>
                <a:round/>
              </a:ln>
              <a:solidFill>
                <a:schemeClr val="bg1"/>
              </a:solidFill>
              <a:effectLst>
                <a:innerShdw blurRad="50800" dist="25400" dir="13500000">
                  <a:srgbClr val="000000">
                    <a:alpha val="70000"/>
                  </a:srgbClr>
                </a:innerShdw>
              </a:effectLst>
              <a:uLnTx/>
              <a:uFillTx/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28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3D7C17C-93BB-4A26-97B3-D0EA6467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46" y="933887"/>
            <a:ext cx="5901253" cy="512797"/>
          </a:xfrm>
        </p:spPr>
        <p:txBody>
          <a:bodyPr tIns="108000" bIns="108000" numCol="1" anchor="ctr">
            <a:noAutofit/>
          </a:bodyPr>
          <a:lstStyle/>
          <a:p>
            <a:r>
              <a:rPr lang="ru-RU" sz="4400" b="1" dirty="0">
                <a:cs typeface="Times New Roman" panose="02020603050405020304" pitchFamily="18" charset="0"/>
              </a:rPr>
              <a:t> </a:t>
            </a:r>
            <a:r>
              <a:rPr lang="ru-RU" b="1" dirty="0">
                <a:cs typeface="Times New Roman" panose="02020603050405020304" pitchFamily="18" charset="0"/>
              </a:rPr>
              <a:t>Цель работы</a:t>
            </a:r>
            <a:r>
              <a:rPr lang="en-US" b="1" dirty="0">
                <a:cs typeface="Times New Roman" panose="02020603050405020304" pitchFamily="18" charset="0"/>
              </a:rPr>
              <a:t>:</a:t>
            </a:r>
            <a:endParaRPr lang="ru-RU" b="1" dirty="0">
              <a:cs typeface="Times New Roman" panose="02020603050405020304" pitchFamily="18" charset="0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92F89F5-E6EA-4B41-811B-51BE17AC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226" y="2321522"/>
            <a:ext cx="9471547" cy="2608975"/>
          </a:xfrm>
        </p:spPr>
        <p:txBody>
          <a:bodyPr lIns="108000" rIns="10800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 работы является проанализировать современные угрозы безопасности на веб-сайтах и выявить способы их предотвращения.</a:t>
            </a:r>
          </a:p>
          <a:p>
            <a:pPr marL="0" lvl="0" indent="-3600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endParaRPr lang="ru-RU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3D7C17C-93BB-4A26-97B3-D0EA6467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62" y="950217"/>
            <a:ext cx="3239696" cy="512797"/>
          </a:xfrm>
        </p:spPr>
        <p:txBody>
          <a:bodyPr tIns="108000" bIns="108000" anchor="ctr">
            <a:noAutofit/>
          </a:bodyPr>
          <a:lstStyle/>
          <a:p>
            <a:r>
              <a:rPr lang="ru-RU" b="1" dirty="0">
                <a:cs typeface="Times New Roman" panose="02020603050405020304" pitchFamily="18" charset="0"/>
              </a:rPr>
              <a:t>ЗАДАЧИ: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92F89F5-E6EA-4B41-811B-51BE17AC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853967"/>
            <a:ext cx="11229474" cy="3649211"/>
          </a:xfrm>
        </p:spPr>
        <p:txBody>
          <a:bodyPr lIns="108000" rIns="108000" anchor="t">
            <a:norm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методы реализации угроз на веб-сайтах, и их предотвращения;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200" lvl="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среду для тестирования методов защиты от атак;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200" lvl="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Провести атаки на тестовую среду;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200" lvl="0" indent="-4572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Обеспечить защиту тестовой среды от атак.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754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1E44D3-C1E4-4841-8A9D-12CA1465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4" y="2522973"/>
            <a:ext cx="6177413" cy="3403044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CCAB32A6-D6DE-493D-AB74-A38E4902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79198"/>
            <a:ext cx="11029616" cy="1036758"/>
          </a:xfrm>
        </p:spPr>
        <p:txBody>
          <a:bodyPr tIns="72000" bIns="72000" anchor="ctr">
            <a:normAutofit/>
          </a:bodyPr>
          <a:lstStyle/>
          <a:p>
            <a:pPr algn="ctr"/>
            <a:r>
              <a:rPr lang="ru-RU" b="1" dirty="0">
                <a:effectLst/>
                <a:ea typeface="Calibri" panose="020F0502020204030204" pitchFamily="34" charset="0"/>
              </a:rPr>
              <a:t>Межсайтовый скриптинг </a:t>
            </a:r>
            <a:br>
              <a:rPr lang="ru-RU" sz="1800" dirty="0">
                <a:effectLst/>
                <a:ea typeface="Calibri" panose="020F0502020204030204" pitchFamily="34" charset="0"/>
              </a:rPr>
            </a:br>
            <a:r>
              <a:rPr lang="ru-RU" sz="1600" dirty="0">
                <a:effectLst/>
                <a:ea typeface="Calibri" panose="020F0502020204030204" pitchFamily="34" charset="0"/>
              </a:rPr>
              <a:t>(XSS или </a:t>
            </a:r>
            <a:r>
              <a:rPr lang="ru-RU" sz="1600" i="1" dirty="0">
                <a:effectLst/>
                <a:ea typeface="Calibri" panose="020F0502020204030204" pitchFamily="34" charset="0"/>
              </a:rPr>
              <a:t>Cross-</a:t>
            </a:r>
            <a:r>
              <a:rPr lang="ru-RU" sz="1600" i="1" dirty="0" err="1">
                <a:effectLst/>
                <a:ea typeface="Calibri" panose="020F0502020204030204" pitchFamily="34" charset="0"/>
              </a:rPr>
              <a:t>Site</a:t>
            </a:r>
            <a:r>
              <a:rPr lang="ru-RU" sz="1600" i="1" dirty="0">
                <a:effectLst/>
                <a:ea typeface="Calibri" panose="020F0502020204030204" pitchFamily="34" charset="0"/>
              </a:rPr>
              <a:t> Scripting</a:t>
            </a:r>
            <a:r>
              <a:rPr lang="ru-RU" sz="1600" dirty="0">
                <a:effectLst/>
                <a:ea typeface="Calibri" panose="020F0502020204030204" pitchFamily="34" charset="0"/>
              </a:rPr>
              <a:t>)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36181-CCD4-4771-84FB-C6D90B05E77E}"/>
              </a:ext>
            </a:extLst>
          </p:cNvPr>
          <p:cNvSpPr txBox="1"/>
          <p:nvPr/>
        </p:nvSpPr>
        <p:spPr>
          <a:xfrm>
            <a:off x="6651057" y="2100837"/>
            <a:ext cx="4959751" cy="419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Межсайтовый скриптинг (XSS или 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</a:t>
            </a:r>
            <a:r>
              <a:rPr lang="ru-RU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Site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Scripting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это термин, используемый для описания типа атак, которые позволяют злоумышленнику внедрять вредоносный код через веб-сайт в браузеры других пользователей. 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недрённый код может выполнять действие отправки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авторизационного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файла </a:t>
            </a:r>
            <a:r>
              <a:rPr lang="ru-RU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cookie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пользователя злоумышленнику.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73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DA57AF-19CE-47BF-BC2D-CBF18B4E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>
                <a:effectLst/>
                <a:ea typeface="Calibri" panose="020F0502020204030204" pitchFamily="34" charset="0"/>
              </a:rPr>
              <a:t>способы предотвращения </a:t>
            </a:r>
            <a:r>
              <a:rPr lang="en-US" b="1" dirty="0">
                <a:effectLst/>
                <a:ea typeface="Calibri" panose="020F0502020204030204" pitchFamily="34" charset="0"/>
              </a:rPr>
              <a:t>XSS</a:t>
            </a:r>
            <a:r>
              <a:rPr lang="ru-RU" dirty="0">
                <a:effectLst/>
                <a:ea typeface="Calibri" panose="020F0502020204030204" pitchFamily="34" charset="0"/>
              </a:rPr>
              <a:t> атак</a:t>
            </a:r>
            <a:endParaRPr lang="ru-RU" dirty="0"/>
          </a:p>
        </p:txBody>
      </p:sp>
      <p:graphicFrame>
        <p:nvGraphicFramePr>
          <p:cNvPr id="10" name="Объект 5" descr="SmartArt">
            <a:extLst>
              <a:ext uri="{FF2B5EF4-FFF2-40B4-BE49-F238E27FC236}">
                <a16:creationId xmlns:a16="http://schemas.microsoft.com/office/drawing/2014/main" id="{F3312840-6CFB-44C6-A505-EF004C626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0531428"/>
              </p:ext>
            </p:extLst>
          </p:nvPr>
        </p:nvGraphicFramePr>
        <p:xfrm>
          <a:off x="639030" y="2002055"/>
          <a:ext cx="10903343" cy="4225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8787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2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7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FE03446-AB2E-43A1-86E3-D16038F1DB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graphicEl>
                                              <a:dgm id="{0FE03446-AB2E-43A1-86E3-D16038F1DB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graphicEl>
                                              <a:dgm id="{0FE03446-AB2E-43A1-86E3-D16038F1DB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graphicEl>
                                              <a:dgm id="{0FE03446-AB2E-43A1-86E3-D16038F1DB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8D6CFB2-0017-48B4-96CE-F9CB4123BF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>
                                            <p:graphicEl>
                                              <a:dgm id="{E8D6CFB2-0017-48B4-96CE-F9CB4123BF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>
                                            <p:graphicEl>
                                              <a:dgm id="{E8D6CFB2-0017-48B4-96CE-F9CB4123BF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graphicEl>
                                              <a:dgm id="{E8D6CFB2-0017-48B4-96CE-F9CB4123BF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2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C343CC2-2B3E-43B3-8B6A-DA202E292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>
                                            <p:graphicEl>
                                              <a:dgm id="{AC343CC2-2B3E-43B3-8B6A-DA202E292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>
                                            <p:graphicEl>
                                              <a:dgm id="{AC343CC2-2B3E-43B3-8B6A-DA202E292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>
                                            <p:graphicEl>
                                              <a:dgm id="{AC343CC2-2B3E-43B3-8B6A-DA202E2923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A4C9B23-BBFA-44F1-9C11-8B9D755170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>
                                            <p:graphicEl>
                                              <a:dgm id="{CA4C9B23-BBFA-44F1-9C11-8B9D755170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>
                                            <p:graphicEl>
                                              <a:dgm id="{CA4C9B23-BBFA-44F1-9C11-8B9D755170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>
                                            <p:graphicEl>
                                              <a:dgm id="{CA4C9B23-BBFA-44F1-9C11-8B9D755170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75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70303A8-B507-40FD-A5F2-02463C97D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>
                                            <p:graphicEl>
                                              <a:dgm id="{270303A8-B507-40FD-A5F2-02463C97D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>
                                            <p:graphicEl>
                                              <a:dgm id="{270303A8-B507-40FD-A5F2-02463C97D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>
                                            <p:graphicEl>
                                              <a:dgm id="{270303A8-B507-40FD-A5F2-02463C97DB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E3C4A39-3DD7-468A-87AE-0AECB54DE5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">
                                            <p:graphicEl>
                                              <a:dgm id="{0E3C4A39-3DD7-468A-87AE-0AECB54DE5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">
                                            <p:graphicEl>
                                              <a:dgm id="{0E3C4A39-3DD7-468A-87AE-0AECB54DE5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>
                                            <p:graphicEl>
                                              <a:dgm id="{0E3C4A39-3DD7-468A-87AE-0AECB54DE5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10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CCAB32A6-D6DE-493D-AB74-A38E4902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79198"/>
            <a:ext cx="11029616" cy="1036758"/>
          </a:xfrm>
        </p:spPr>
        <p:txBody>
          <a:bodyPr tIns="72000" bIns="72000" anchor="ctr">
            <a:normAutofit/>
          </a:bodyPr>
          <a:lstStyle/>
          <a:p>
            <a:pPr algn="ctr"/>
            <a:r>
              <a:rPr lang="en-US" dirty="0">
                <a:effectLst/>
                <a:ea typeface="Calibri" panose="020F0502020204030204" pitchFamily="34" charset="0"/>
              </a:rPr>
              <a:t>SQL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ea typeface="Calibri" panose="020F0502020204030204" pitchFamily="34" charset="0"/>
              </a:rPr>
              <a:t>ИНЪЕКЦИЯ</a:t>
            </a:r>
            <a:br>
              <a:rPr lang="ru-RU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1600" dirty="0">
                <a:effectLst/>
                <a:ea typeface="Calibri" panose="020F0502020204030204" pitchFamily="34" charset="0"/>
              </a:rPr>
              <a:t>SQL Injection</a:t>
            </a:r>
            <a:r>
              <a:rPr lang="ru-RU" sz="1600" dirty="0">
                <a:effectLst/>
                <a:ea typeface="Calibri" panose="020F0502020204030204" pitchFamily="34" charset="0"/>
              </a:rPr>
              <a:t> (</a:t>
            </a:r>
            <a:r>
              <a:rPr lang="en-US" sz="1600" dirty="0">
                <a:effectLst/>
                <a:ea typeface="Calibri" panose="020F0502020204030204" pitchFamily="34" charset="0"/>
              </a:rPr>
              <a:t>SQLI</a:t>
            </a:r>
            <a:r>
              <a:rPr lang="ru-RU" sz="1600" dirty="0">
                <a:effectLst/>
                <a:ea typeface="Calibri" panose="020F0502020204030204" pitchFamily="34" charset="0"/>
              </a:rPr>
              <a:t>) </a:t>
            </a:r>
            <a:endParaRPr lang="ru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36181-CCD4-4771-84FB-C6D90B05E77E}"/>
              </a:ext>
            </a:extLst>
          </p:cNvPr>
          <p:cNvSpPr txBox="1"/>
          <p:nvPr/>
        </p:nvSpPr>
        <p:spPr>
          <a:xfrm>
            <a:off x="6096001" y="2056686"/>
            <a:ext cx="5514808" cy="327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Injection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SQLI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 это тип атаки, при которой злоумышленник внедряет вредоносные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-запросы в поля ввода или другие механизмы общения с базой данных. 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Injection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является выполнение несанкционированных операций в базе данных или получение конфиденциальной информации.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0C2A094-7F6C-4E4A-89CE-0175E35BFE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39" r="5489"/>
          <a:stretch/>
        </p:blipFill>
        <p:spPr>
          <a:xfrm>
            <a:off x="665412" y="2486062"/>
            <a:ext cx="5024387" cy="332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55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A4BA7C9-4E3F-4538-B5FA-2099756E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Способы предотвращения </a:t>
            </a:r>
            <a:r>
              <a:rPr lang="en-US" dirty="0"/>
              <a:t>SQL </a:t>
            </a:r>
            <a:r>
              <a:rPr lang="ru-RU" dirty="0"/>
              <a:t>Инъекций </a:t>
            </a:r>
          </a:p>
        </p:txBody>
      </p:sp>
      <p:graphicFrame>
        <p:nvGraphicFramePr>
          <p:cNvPr id="9" name="Объект 5" descr="SmartArt">
            <a:extLst>
              <a:ext uri="{FF2B5EF4-FFF2-40B4-BE49-F238E27FC236}">
                <a16:creationId xmlns:a16="http://schemas.microsoft.com/office/drawing/2014/main" id="{87A0CFE7-0741-4C7D-AA75-8B38F708F2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0147925"/>
              </p:ext>
            </p:extLst>
          </p:nvPr>
        </p:nvGraphicFramePr>
        <p:xfrm>
          <a:off x="575894" y="2302651"/>
          <a:ext cx="10917411" cy="3471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1191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CCAB32A6-D6DE-493D-AB74-A38E4902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79198"/>
            <a:ext cx="11029616" cy="1036758"/>
          </a:xfrm>
        </p:spPr>
        <p:txBody>
          <a:bodyPr tIns="72000" bIns="72000" anchor="ctr">
            <a:normAutofit/>
          </a:bodyPr>
          <a:lstStyle/>
          <a:p>
            <a:pPr algn="ctr"/>
            <a:r>
              <a:rPr lang="ru-RU" dirty="0">
                <a:effectLst/>
                <a:ea typeface="Calibri" panose="020F0502020204030204" pitchFamily="34" charset="0"/>
              </a:rPr>
              <a:t>Межсайтовая подделка запросов</a:t>
            </a:r>
            <a:r>
              <a:rPr lang="en-US" dirty="0">
                <a:effectLst/>
                <a:ea typeface="Calibri" panose="020F0502020204030204" pitchFamily="34" charset="0"/>
              </a:rPr>
              <a:t> </a:t>
            </a:r>
            <a:br>
              <a:rPr lang="ru-RU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1600" dirty="0">
                <a:ea typeface="Calibri" panose="020F0502020204030204" pitchFamily="34" charset="0"/>
              </a:rPr>
              <a:t>cross-site request forgery </a:t>
            </a:r>
            <a:r>
              <a:rPr lang="ru-RU" sz="1600" dirty="0">
                <a:effectLst/>
                <a:ea typeface="Calibri" panose="020F0502020204030204" pitchFamily="34" charset="0"/>
              </a:rPr>
              <a:t>(</a:t>
            </a:r>
            <a:r>
              <a:rPr lang="en-US" sz="1600" dirty="0">
                <a:effectLst/>
                <a:ea typeface="Calibri" panose="020F0502020204030204" pitchFamily="34" charset="0"/>
              </a:rPr>
              <a:t>CSRF </a:t>
            </a:r>
            <a:r>
              <a:rPr lang="ru-RU" sz="1600" dirty="0">
                <a:effectLst/>
                <a:ea typeface="Calibri" panose="020F0502020204030204" pitchFamily="34" charset="0"/>
              </a:rPr>
              <a:t>или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Xsrf</a:t>
            </a:r>
            <a:r>
              <a:rPr lang="ru-RU" sz="1600" dirty="0">
                <a:effectLst/>
                <a:ea typeface="Calibri" panose="020F0502020204030204" pitchFamily="34" charset="0"/>
              </a:rPr>
              <a:t>) </a:t>
            </a:r>
            <a:endParaRPr lang="ru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36181-CCD4-4771-84FB-C6D90B05E77E}"/>
              </a:ext>
            </a:extLst>
          </p:cNvPr>
          <p:cNvSpPr txBox="1"/>
          <p:nvPr/>
        </p:nvSpPr>
        <p:spPr>
          <a:xfrm>
            <a:off x="6096001" y="2056686"/>
            <a:ext cx="5430587" cy="4618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CSRF (Cross-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Site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Forgery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или межсайтовая подделка запроса, представляет собой тип атаки на веб-приложения, при котором злоумышленник инициирует выполнение нежелательных действий от имени авторизованного пользователя.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особенность данной уязвимости заключается в том, что пользователь, находясь в активной сессии на целевом сайте, переходит на вредоносную страницу, содержащую скрытую форму или скрипт.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2FD7CF-836C-41C6-8115-6E04A68EB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1" y="2056686"/>
            <a:ext cx="4736321" cy="43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995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A4BA7C9-4E3F-4538-B5FA-2099756E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Способы предотвращения </a:t>
            </a:r>
            <a:r>
              <a:rPr lang="en-US" dirty="0"/>
              <a:t>CSRF </a:t>
            </a:r>
            <a:r>
              <a:rPr lang="ru-RU" dirty="0"/>
              <a:t>АТАК </a:t>
            </a:r>
          </a:p>
        </p:txBody>
      </p:sp>
      <p:graphicFrame>
        <p:nvGraphicFramePr>
          <p:cNvPr id="9" name="Объект 5" descr="SmartArt">
            <a:extLst>
              <a:ext uri="{FF2B5EF4-FFF2-40B4-BE49-F238E27FC236}">
                <a16:creationId xmlns:a16="http://schemas.microsoft.com/office/drawing/2014/main" id="{87A0CFE7-0741-4C7D-AA75-8B38F708F2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2347005"/>
              </p:ext>
            </p:extLst>
          </p:nvPr>
        </p:nvGraphicFramePr>
        <p:xfrm>
          <a:off x="575894" y="2302651"/>
          <a:ext cx="10917411" cy="3471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351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>
                                            <p:graphicEl>
                                              <a:dgm id="{D79B43FC-100B-4A0D-A4D5-0D2D04B990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graphicEl>
                                              <a:dgm id="{07CB3071-D555-47DA-A36A-69EB91531F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graphicEl>
                                              <a:dgm id="{58319267-C71E-43C9-94E1-827D0616C7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graphicEl>
                                              <a:dgm id="{3F8116AC-FAC3-4E95-9865-93CCFEB191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>
                                            <p:graphicEl>
                                              <a:dgm id="{95DE6538-27BD-44AF-A1A8-CA8F6B10FD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>
                                            <p:graphicEl>
                                              <a:dgm id="{A965097E-32F1-4AB8-8C4E-2814A7596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graphicEl>
                                              <a:dgm id="{E131CE4A-9776-44F4-BC03-867682E213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>
                                            <p:graphicEl>
                                              <a:dgm id="{235FF52B-B472-4F53-8F00-46815ED74E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>
                                            <p:graphicEl>
                                              <a:dgm id="{82C69AA3-6900-4571-9D4C-A41357C9C8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4" name="Прямоугольник 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9" y="5426656"/>
            <a:ext cx="9734176" cy="689462"/>
          </a:xfrm>
        </p:spPr>
        <p:txBody>
          <a:bodyPr tIns="36000" bIns="108000" rtlCol="0">
            <a:noAutofit/>
          </a:bodyPr>
          <a:lstStyle/>
          <a:p>
            <a:pPr algn="ctr" rtl="0"/>
            <a:r>
              <a:rPr lang="ru-RU" dirty="0">
                <a:solidFill>
                  <a:srgbClr val="FFFEFF"/>
                </a:solidFill>
              </a:rPr>
              <a:t>ТЕХНОЛОГИИ, ИСПОЛЬЗУЕМЫЕ НА СТОРОНЕ КЛИЕНТА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6EBEAA2-B009-41CF-9F10-D401CB792CE1}"/>
              </a:ext>
            </a:extLst>
          </p:cNvPr>
          <p:cNvGrpSpPr/>
          <p:nvPr/>
        </p:nvGrpSpPr>
        <p:grpSpPr>
          <a:xfrm>
            <a:off x="878337" y="1059656"/>
            <a:ext cx="10435327" cy="3559373"/>
            <a:chOff x="806981" y="1059656"/>
            <a:chExt cx="10435327" cy="3559373"/>
          </a:xfrm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ABF45122-3122-42D0-AE14-D4EADC2120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145" t="16046" r="19550"/>
            <a:stretch/>
          </p:blipFill>
          <p:spPr>
            <a:xfrm>
              <a:off x="806981" y="1749864"/>
              <a:ext cx="2802906" cy="2869165"/>
            </a:xfrm>
            <a:prstGeom prst="rect">
              <a:avLst/>
            </a:prstGeom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32791901-0E8E-4ACA-9531-DD387A5D5E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578" t="17949" r="8069"/>
            <a:stretch/>
          </p:blipFill>
          <p:spPr>
            <a:xfrm>
              <a:off x="4488224" y="1749863"/>
              <a:ext cx="2949668" cy="2869166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0337868-2FCE-4E1A-9FF2-C9F452689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995" t="18494" r="8328"/>
            <a:stretch/>
          </p:blipFill>
          <p:spPr>
            <a:xfrm>
              <a:off x="8316228" y="1759370"/>
              <a:ext cx="2926080" cy="285015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E6A633-A7F2-4BA8-BE19-D31EC0367A20}"/>
                </a:ext>
              </a:extLst>
            </p:cNvPr>
            <p:cNvSpPr txBox="1"/>
            <p:nvPr/>
          </p:nvSpPr>
          <p:spPr>
            <a:xfrm>
              <a:off x="1411581" y="1059656"/>
              <a:ext cx="15937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HTML</a:t>
              </a:r>
              <a:endParaRPr lang="ru-RU" sz="3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EAC7EF-6203-4CC4-A890-B7E73F60FED4}"/>
                </a:ext>
              </a:extLst>
            </p:cNvPr>
            <p:cNvSpPr txBox="1"/>
            <p:nvPr/>
          </p:nvSpPr>
          <p:spPr>
            <a:xfrm>
              <a:off x="5413869" y="1059656"/>
              <a:ext cx="10983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CSS</a:t>
              </a:r>
              <a:endParaRPr lang="ru-RU" sz="36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C59EE9-0EF2-4288-A761-D537DFBCF83C}"/>
                </a:ext>
              </a:extLst>
            </p:cNvPr>
            <p:cNvSpPr txBox="1"/>
            <p:nvPr/>
          </p:nvSpPr>
          <p:spPr>
            <a:xfrm>
              <a:off x="9470529" y="1067347"/>
              <a:ext cx="6174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JS</a:t>
              </a:r>
              <a:endParaRPr lang="ru-RU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24" name="Прямоугольник 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655" y="5426656"/>
            <a:ext cx="9627184" cy="689462"/>
          </a:xfrm>
        </p:spPr>
        <p:txBody>
          <a:bodyPr tIns="36000" bIns="108000" rtlCol="0">
            <a:normAutofit/>
          </a:bodyPr>
          <a:lstStyle/>
          <a:p>
            <a:pPr algn="ctr" rtl="0"/>
            <a:r>
              <a:rPr lang="ru-RU" dirty="0">
                <a:solidFill>
                  <a:srgbClr val="FFFEFF"/>
                </a:solidFill>
              </a:rPr>
              <a:t>ТЕХНОЛОГИИ, ИСПОЛЬЗУЕМЫЕ НА СТОРОНЕ СЕРВЕРА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0E96FF9F-8D5E-4882-8303-E57894211549}"/>
              </a:ext>
            </a:extLst>
          </p:cNvPr>
          <p:cNvGrpSpPr/>
          <p:nvPr/>
        </p:nvGrpSpPr>
        <p:grpSpPr>
          <a:xfrm>
            <a:off x="1111168" y="1023602"/>
            <a:ext cx="9969665" cy="3489905"/>
            <a:chOff x="1161676" y="1023602"/>
            <a:chExt cx="9969665" cy="3489905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4B396B25-98CF-415C-9171-E30179E3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676" y="1023602"/>
              <a:ext cx="4228479" cy="3489905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C1D39C8-0689-4912-9732-C52DB470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5807" y="1400266"/>
              <a:ext cx="5065534" cy="27365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686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A9D4F-A17E-42DA-9D7E-9D0DD4F2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Применение </a:t>
            </a:r>
            <a:r>
              <a:rPr lang="en-US" dirty="0" err="1"/>
              <a:t>xss</a:t>
            </a:r>
            <a:r>
              <a:rPr lang="en-US" dirty="0"/>
              <a:t> </a:t>
            </a:r>
            <a:r>
              <a:rPr lang="ru-RU" dirty="0"/>
              <a:t>и защита от атаки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A0F24-6505-45B7-B6BB-6412D3DCB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38" y="2367644"/>
            <a:ext cx="5068153" cy="3778762"/>
          </a:xfrm>
        </p:spPr>
        <p:txBody>
          <a:bodyPr anchor="t">
            <a:no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работы с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XSS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была разработана веб-страница, которая имитирует блок комментариев в интернете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Также была создана база данных под названием “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в которой, в свою очередь, была создана таблица с названием “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comments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имеет поля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“id”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textData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где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уникальный идентификатор записи в БД, а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textData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Содержимое комментария.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0DC32F-8932-418E-ACBA-86E0564E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498365"/>
            <a:ext cx="5638801" cy="294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354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5DE1B-9669-48F2-990C-88AE057A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sz="2800" dirty="0"/>
              <a:t>Применение </a:t>
            </a:r>
            <a:r>
              <a:rPr lang="en-US" sz="2800" dirty="0" err="1"/>
              <a:t>xss</a:t>
            </a:r>
            <a:r>
              <a:rPr lang="en-US" sz="2800" dirty="0"/>
              <a:t> </a:t>
            </a:r>
            <a:r>
              <a:rPr lang="ru-RU" sz="2800" dirty="0"/>
              <a:t>и защита от атаки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070C9E5-8A87-41F7-A798-E8A4B1B33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389542"/>
            <a:ext cx="5254306" cy="294206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14F24F-B8E4-4A3E-B63B-4050531A9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89541"/>
            <a:ext cx="5254306" cy="294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62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B6CB3-CA50-48B0-948B-81DBBF26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sz="2800" dirty="0"/>
              <a:t>Применение </a:t>
            </a:r>
            <a:r>
              <a:rPr lang="en-US" sz="2800" dirty="0" err="1"/>
              <a:t>xss</a:t>
            </a:r>
            <a:r>
              <a:rPr lang="en-US" sz="2800" dirty="0"/>
              <a:t> </a:t>
            </a:r>
            <a:r>
              <a:rPr lang="ru-RU" sz="2800" dirty="0"/>
              <a:t>и защита от атаки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EFFE937-67E7-4755-96DB-A082534439A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435" y="2065003"/>
            <a:ext cx="5514062" cy="155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BD3F5D6-085E-45B1-AD0E-308A40250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02" y="3759792"/>
            <a:ext cx="5516995" cy="22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74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A9D4F-A17E-42DA-9D7E-9D0DD4F2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Применение SQLI и защита от атаки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A0F24-6505-45B7-B6BB-6412D3DCB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66309"/>
            <a:ext cx="5068153" cy="3989535"/>
          </a:xfrm>
        </p:spPr>
        <p:txBody>
          <a:bodyPr anchor="t">
            <a:no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работы с SQL Инъекциями была разработана веб-страница, которая имитирует форму авторизации в интернете.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Также была создана таблица, под названием “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 Таблица имеет поля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“id”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“username”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“password”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где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username –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имя пользователя, а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password –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F363C8-AE8E-41AF-B486-1F7AAFAAA6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86252" y="2367644"/>
            <a:ext cx="5068152" cy="310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180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9B851-1D70-4AB7-8DEC-F34AEE51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Применение SQLI и защита от атаки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7242A9-A909-4495-9DA9-7BEE3E61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55576"/>
            <a:ext cx="5514808" cy="2860238"/>
          </a:xfrm>
        </p:spPr>
        <p:txBody>
          <a:bodyPr>
            <a:normAutofit lnSpcReduction="10000"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Таблица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users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имеет одну запись. Эта запись представляет пользователя под именем “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admin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 с паролем “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admin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”. 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того как пользователь вводит данные в форму, его перенаправляет на страницу с сообщением о статусе авторизации: “Ошибка!” либо “Вход успешно выполнен”. 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6A1BAB-6416-486F-B045-FCAD4DAB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33" y="1902076"/>
            <a:ext cx="4527567" cy="228953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43AB92B-C607-46C8-AC97-5C758A5EF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533" y="4377726"/>
            <a:ext cx="4527567" cy="226777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AA4DD23-7FC3-44F6-BAE2-BB43937B566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1526" y="4859150"/>
            <a:ext cx="5414140" cy="13049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752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53B7D-09CA-4F1C-B39C-D43A7641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Применение SQLI и защита от атаки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F6F443-E4EE-4B83-917F-7AC9E29D78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2261" y="2143606"/>
            <a:ext cx="5408547" cy="326729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ED5D58-BAE9-4465-AC7B-D623BD7D57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143606"/>
            <a:ext cx="5408547" cy="3267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3EFEF0-AAD6-4724-A291-2B47C25FB4E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475" y="5584077"/>
            <a:ext cx="6379903" cy="848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58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00B2D-7CBA-468C-9D31-EE607D2C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Применение SQLI и защита от атаки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80696-4740-4F46-BA85-C0F2F3F87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0455"/>
            <a:ext cx="10656304" cy="1304220"/>
          </a:xfrm>
        </p:spPr>
        <p:txBody>
          <a:bodyPr anchor="t">
            <a:normAutofit/>
          </a:bodyPr>
          <a:lstStyle/>
          <a:p>
            <a:pPr marL="0" indent="457200" algn="just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защититься от взлома, было принято решение использовать параметризованный запрос. Такой подход предотвращает выполнение вредоносных SQL-инструкций, подставляемых через пользовательский ввод.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95" y="3986463"/>
            <a:ext cx="10716210" cy="21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13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A9D4F-A17E-42DA-9D7E-9D0DD4F2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dirty="0"/>
              <a:t>Применение </a:t>
            </a:r>
            <a:r>
              <a:rPr lang="en-US" dirty="0"/>
              <a:t>CSRF</a:t>
            </a:r>
            <a:r>
              <a:rPr lang="ru-RU" dirty="0"/>
              <a:t> и защита от атаки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A0F24-6505-45B7-B6BB-6412D3DCB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70056"/>
            <a:ext cx="4921250" cy="3729165"/>
          </a:xfrm>
        </p:spPr>
        <p:txBody>
          <a:bodyPr anchor="t">
            <a:no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тестирования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CSRF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атаки была создана страница профиля пользователя. При входе на страницу пользователь видит свой логин, и может ввести новый логин или новый пароль.</a:t>
            </a:r>
          </a:p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Также на сайт внедрен функционал авторизации. 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5834045" y="2070056"/>
            <a:ext cx="5776763" cy="372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64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53B7D-09CA-4F1C-B39C-D43A7641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Применение </a:t>
            </a:r>
            <a:r>
              <a:rPr lang="en-US" dirty="0"/>
              <a:t>CSRF</a:t>
            </a:r>
            <a:r>
              <a:rPr lang="ru-RU" dirty="0"/>
              <a:t> и защита от атаки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581191" y="2013183"/>
            <a:ext cx="5795545" cy="2687154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6529137" y="2013183"/>
            <a:ext cx="5081671" cy="373517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885269"/>
            <a:ext cx="5795545" cy="8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53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53B7D-09CA-4F1C-B39C-D43A7641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Применение </a:t>
            </a:r>
            <a:r>
              <a:rPr lang="en-US" dirty="0"/>
              <a:t>CSRF</a:t>
            </a:r>
            <a:r>
              <a:rPr lang="ru-RU" dirty="0"/>
              <a:t> и защита от атаки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902A6C-3E03-4DDE-9D68-BCADC54F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152" y="2015066"/>
            <a:ext cx="3887745" cy="41407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B93AB7-3099-4B14-892F-E11F53D71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434244"/>
            <a:ext cx="6096000" cy="172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CD3D03-8E51-48D2-9B75-0475542D21AE}"/>
              </a:ext>
            </a:extLst>
          </p:cNvPr>
          <p:cNvSpPr txBox="1"/>
          <p:nvPr/>
        </p:nvSpPr>
        <p:spPr>
          <a:xfrm>
            <a:off x="581192" y="2015066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внедрения мер защиты от CSRF-атак, при повторной попытке выполнить такую атаку сервер отвечает статусом HTTP 401 "Не авторизован". Анализ запроса через инструменты разработчика показывает, что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cookie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ранее передаваемые с запросом, больше не отправляются.</a:t>
            </a:r>
          </a:p>
        </p:txBody>
      </p:sp>
    </p:spTree>
    <p:extLst>
      <p:ext uri="{BB962C8B-B14F-4D97-AF65-F5344CB8AC3E}">
        <p14:creationId xmlns:p14="http://schemas.microsoft.com/office/powerpoint/2010/main" val="3445463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0B00B-2D7E-4C11-A3BC-0AA1B9B0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1CD37-43BB-418F-A898-BAE59E86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11915"/>
          </a:xfrm>
        </p:spPr>
        <p:txBody>
          <a:bodyPr>
            <a:normAutofit fontScale="85000" lnSpcReduction="10000"/>
          </a:bodyPr>
          <a:lstStyle/>
          <a:p>
            <a:pPr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Подводя итоги, были рассмотрены актуальные уязвимости веб-безопасности, и методы их предотвращения. Также, была проведена практическая работа с уязвимостями внедрения вредоносного кода на веб-страницы. Была разработана тестовая среда, на которой были протестированы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XSS, CSRF,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SQLI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атаки и способы их предотвращения.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итогам работы, все следующие задачи были выполнены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теоретическую составляющую современных угроз;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методы реализации угроз на веб-сайты, а также их предотвращение;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какие методы атак и защиты используются злоумышленниками;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среду для тестирования методов защиты от атак;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Провести атаки на тестовую среду;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Обеспечить защиту тестовой среды от атак.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99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Прямоугольник 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5" name="Рисунок 4" descr="Числа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Прямоугольник 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8570" y="1606143"/>
            <a:ext cx="3176985" cy="1746762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ru-RU" dirty="0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ru-RU" dirty="0">
              <a:solidFill>
                <a:schemeClr val="bg2"/>
              </a:solidFill>
            </a:endParaRPr>
          </a:p>
          <a:p>
            <a:pPr rtl="0"/>
            <a:endParaRPr lang="ru-RU" dirty="0">
              <a:solidFill>
                <a:schemeClr val="bg2"/>
              </a:solidFill>
            </a:endParaRPr>
          </a:p>
        </p:txBody>
      </p:sp>
      <p:grpSp>
        <p:nvGrpSpPr>
          <p:cNvPr id="14" name="Группа 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Прямоугольник 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Прямоугольник 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Прямоугольник 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C7A4189-7BEC-4E8B-A64E-7186CDEC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776"/>
            <a:ext cx="12192000" cy="68807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80250E-27BE-4068-BBC4-8D48F349554B}"/>
              </a:ext>
            </a:extLst>
          </p:cNvPr>
          <p:cNvSpPr txBox="1"/>
          <p:nvPr/>
        </p:nvSpPr>
        <p:spPr>
          <a:xfrm>
            <a:off x="3259615" y="4241991"/>
            <a:ext cx="5672766" cy="1384995"/>
          </a:xfrm>
          <a:prstGeom prst="rect">
            <a:avLst/>
          </a:prstGeom>
          <a:solidFill>
            <a:srgbClr val="101A33">
              <a:alpha val="45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Выполнил: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Кудин Артемий Ю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рьевич</a:t>
            </a:r>
            <a:endParaRPr lang="en-US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8EAE8-9B77-4C76-8048-69D69A22C83F}"/>
              </a:ext>
            </a:extLst>
          </p:cNvPr>
          <p:cNvSpPr txBox="1"/>
          <p:nvPr/>
        </p:nvSpPr>
        <p:spPr>
          <a:xfrm>
            <a:off x="1438361" y="1554711"/>
            <a:ext cx="9315275" cy="1225290"/>
          </a:xfrm>
          <a:prstGeom prst="rect">
            <a:avLst/>
          </a:prstGeom>
          <a:solidFill>
            <a:srgbClr val="1A3260">
              <a:alpha val="75000"/>
            </a:srgbClr>
          </a:solidFill>
        </p:spPr>
        <p:txBody>
          <a:bodyPr wrap="square" lIns="108000" tIns="180000" rIns="108000" bIns="18000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 «Анализ современных угроз информационной безопасности на веб-сайтах и способы их предотвращения»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8254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Дивиденд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«Дивиденд» для ИТ-бизнеса</Template>
  <TotalTime>2126</TotalTime>
  <Words>848</Words>
  <Application>Microsoft Office PowerPoint</Application>
  <PresentationFormat>Широкоэкранный</PresentationFormat>
  <Paragraphs>85</Paragraphs>
  <Slides>24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Calibri</vt:lpstr>
      <vt:lpstr>Corbel</vt:lpstr>
      <vt:lpstr>Gill Sans MT</vt:lpstr>
      <vt:lpstr>Times New Roman</vt:lpstr>
      <vt:lpstr>Wingdings</vt:lpstr>
      <vt:lpstr>Wingdings 2</vt:lpstr>
      <vt:lpstr>Дивиденд</vt:lpstr>
      <vt:lpstr>Презентация PowerPoint</vt:lpstr>
      <vt:lpstr> Цель работы:</vt:lpstr>
      <vt:lpstr>ЗАДАЧИ:</vt:lpstr>
      <vt:lpstr>Межсайтовый скриптинг  (XSS или Cross-Site Scripting)</vt:lpstr>
      <vt:lpstr>способы предотвращения XSS атак</vt:lpstr>
      <vt:lpstr>SQL ИНЪЕКЦИЯ SQL Injection (SQLI) </vt:lpstr>
      <vt:lpstr>Способы предотвращения SQL Инъекций </vt:lpstr>
      <vt:lpstr>Межсайтовая подделка запросов  cross-site request forgery (CSRF или Xsrf) </vt:lpstr>
      <vt:lpstr>Способы предотвращения CSRF АТАК </vt:lpstr>
      <vt:lpstr>ТЕХНОЛОГИИ, ИСПОЛЬЗУЕМЫЕ НА СТОРОНЕ КЛИЕНТА</vt:lpstr>
      <vt:lpstr>ТЕХНОЛОГИИ, ИСПОЛЬЗУЕМЫЕ НА СТОРОНЕ СЕРВЕРА</vt:lpstr>
      <vt:lpstr>Применение xss и защита от атаки</vt:lpstr>
      <vt:lpstr>Применение xss и защита от атаки</vt:lpstr>
      <vt:lpstr>Применение xss и защита от атаки</vt:lpstr>
      <vt:lpstr>Применение SQLI и защита от атаки</vt:lpstr>
      <vt:lpstr>Применение SQLI и защита от атаки</vt:lpstr>
      <vt:lpstr>Применение SQLI и защита от атаки</vt:lpstr>
      <vt:lpstr>Применение SQLI и защита от атаки</vt:lpstr>
      <vt:lpstr>Применение CSRF и защита от атаки</vt:lpstr>
      <vt:lpstr>Применение CSRF и защита от атаки</vt:lpstr>
      <vt:lpstr>Применение CSRF и защита от атаки</vt:lpstr>
      <vt:lpstr>Заключение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Артемий</dc:creator>
  <cp:lastModifiedBy>Артём Кудин</cp:lastModifiedBy>
  <cp:revision>142</cp:revision>
  <dcterms:created xsi:type="dcterms:W3CDTF">2024-05-02T09:31:43Z</dcterms:created>
  <dcterms:modified xsi:type="dcterms:W3CDTF">2025-06-20T00:14:15Z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